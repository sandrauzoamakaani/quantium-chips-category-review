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Calibri" panose="020F0502020204030204" pitchFamily="34" charset="0"/>
      <p:regular r:id="rId14"/>
      <p:bold r:id="rId15"/>
      <p:italic r:id="rId16"/>
      <p:boldItalic r:id="rId17"/>
    </p:embeddedFont>
    <p:embeddedFont>
      <p:font typeface="Roboto" panose="02000000000000000000" pitchFamily="2" charset="0"/>
      <p:regular r:id="rId18"/>
      <p:bold r:id="rId19"/>
      <p:italic r:id="rId20"/>
      <p:boldItalic r:id="rId21"/>
    </p:embeddedFont>
    <p:embeddedFont>
      <p:font typeface="Roboto Light" panose="02000000000000000000" pitchFamily="2" charset="0"/>
      <p:regular r:id="rId22"/>
      <p:italic r:id="rId23"/>
    </p:embeddedFont>
    <p:embeddedFont>
      <p:font typeface="Roboto Medium" panose="02000000000000000000" pitchFamily="2" charset="0"/>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1" d="100"/>
          <a:sy n="71" d="100"/>
        </p:scale>
        <p:origin x="1354" y="53"/>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11/06/2020</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www.youtube.com/watch?v=Zq1QDAkoRzU" TargetMode="Externa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August 2026</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pPr algn="l"/>
            <a:r>
              <a:rPr lang="en-AU" sz="1200" dirty="0">
                <a:latin typeface="Roboto Light" panose="02000000000000000000" pitchFamily="2" charset="0"/>
                <a:ea typeface="Roboto Light" panose="02000000000000000000" pitchFamily="2" charset="0"/>
              </a:rPr>
              <a:t>Mainstream Young &amp; Midage Singles/Couples are chips' highest-value growth segment - a large, price-tolerant customer base that over-indexes on premium brands and larger pack sizes.</a:t>
            </a: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r>
              <a:rPr lang="en-AU" sz="1200" dirty="0">
                <a:latin typeface="Roboto Light" panose="02000000000000000000" pitchFamily="2" charset="0"/>
                <a:ea typeface="Roboto Light" panose="02000000000000000000" pitchFamily="2" charset="0"/>
              </a:rPr>
              <a:t>2 of the 3 trial stores achieved a statistically significant sales uplift during the trial, driven by more customers visiting - not higher spend per visit - supporting a wider rollout of the new layout.</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Sales are concentrated in five segments, led by Budget families and Mainstream young singles/couples</a:t>
            </a:r>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pic>
        <p:nvPicPr>
          <p:cNvPr id="11" name="Picture 10" descr="p1_sales_by_segment.png"/>
          <p:cNvPicPr>
            <a:picLocks noChangeAspect="1"/>
          </p:cNvPicPr>
          <p:nvPr/>
        </p:nvPicPr>
        <p:blipFill>
          <a:blip r:embed="rId3"/>
          <a:stretch>
            <a:fillRect/>
          </a:stretch>
        </p:blipFill>
        <p:spPr>
          <a:xfrm>
            <a:off x="1188720" y="1645920"/>
            <a:ext cx="6400800" cy="3368842"/>
          </a:xfrm>
          <a:prstGeom prst="rect">
            <a:avLst/>
          </a:prstGeom>
        </p:spPr>
      </p:pic>
      <p:sp>
        <p:nvSpPr>
          <p:cNvPr id="12" name="TextBox 11"/>
          <p:cNvSpPr txBox="1"/>
          <p:nvPr/>
        </p:nvSpPr>
        <p:spPr>
          <a:xfrm>
            <a:off x="7955279" y="1737360"/>
            <a:ext cx="3291840" cy="4114800"/>
          </a:xfrm>
          <a:prstGeom prst="rect">
            <a:avLst/>
          </a:prstGeom>
          <a:noFill/>
        </p:spPr>
        <p:txBody>
          <a:bodyPr wrap="square">
            <a:spAutoFit/>
          </a:bodyPr>
          <a:lstStyle/>
          <a:p>
            <a:pPr>
              <a:spcAft>
                <a:spcPts val="1000"/>
              </a:spcAft>
              <a:defRPr sz="1300">
                <a:solidFill>
                  <a:srgbClr val="000005"/>
                </a:solidFill>
              </a:defRPr>
            </a:pPr>
            <a:r>
              <a:t>Older Families, Retirees, and Older Singles/Couples (all Budget or Mainstream) are the top 3 revenue segments.</a:t>
            </a:r>
          </a:p>
          <a:p>
            <a:pPr>
              <a:spcAft>
                <a:spcPts val="1000"/>
              </a:spcAft>
              <a:defRPr sz="1300">
                <a:solidFill>
                  <a:srgbClr val="000005"/>
                </a:solidFill>
              </a:defRPr>
            </a:pPr>
            <a:r>
              <a:t>Budget Older &amp; Young Families drive sales through volume - about 9 units bought per customer, well above the category average.</a:t>
            </a:r>
          </a:p>
          <a:p>
            <a:pPr>
              <a:spcAft>
                <a:spcPts val="1000"/>
              </a:spcAft>
              <a:defRPr sz="1300">
                <a:solidFill>
                  <a:srgbClr val="000005"/>
                </a:solidFill>
              </a:defRPr>
            </a:pPr>
            <a:r>
              <a:t>Mainstream Young Singles/Couples drive sales through customer count: over 8,000 customers, the largest single segment.</a:t>
            </a:r>
          </a:p>
          <a:p>
            <a:pPr>
              <a:spcAft>
                <a:spcPts val="1000"/>
              </a:spcAft>
              <a:defRPr sz="1300">
                <a:solidFill>
                  <a:srgbClr val="000005"/>
                </a:solidFill>
              </a:defRPr>
            </a:pPr>
            <a:r>
              <a:t>New Families is the smallest segment by total sales across every affluence tier.</a:t>
            </a:r>
          </a:p>
        </p:txBody>
      </p:sp>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Mainstream Young &amp; Midage Singles/Couples over-index on premium brands and larger packs</a:t>
            </a:r>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5" name="Picture 4" descr="p2_brand_affinity.png"/>
          <p:cNvPicPr>
            <a:picLocks noChangeAspect="1"/>
          </p:cNvPicPr>
          <p:nvPr/>
        </p:nvPicPr>
        <p:blipFill>
          <a:blip r:embed="rId3"/>
          <a:stretch>
            <a:fillRect/>
          </a:stretch>
        </p:blipFill>
        <p:spPr>
          <a:xfrm>
            <a:off x="1188720" y="1645920"/>
            <a:ext cx="6400800" cy="3031958"/>
          </a:xfrm>
          <a:prstGeom prst="rect">
            <a:avLst/>
          </a:prstGeom>
        </p:spPr>
      </p:pic>
      <p:sp>
        <p:nvSpPr>
          <p:cNvPr id="6" name="TextBox 5"/>
          <p:cNvSpPr txBox="1"/>
          <p:nvPr/>
        </p:nvSpPr>
        <p:spPr>
          <a:xfrm>
            <a:off x="7955279" y="1737360"/>
            <a:ext cx="3291840" cy="4114800"/>
          </a:xfrm>
          <a:prstGeom prst="rect">
            <a:avLst/>
          </a:prstGeom>
          <a:noFill/>
        </p:spPr>
        <p:txBody>
          <a:bodyPr wrap="square">
            <a:spAutoFit/>
          </a:bodyPr>
          <a:lstStyle/>
          <a:p>
            <a:pPr>
              <a:spcAft>
                <a:spcPts val="1000"/>
              </a:spcAft>
              <a:defRPr sz="1300">
                <a:solidFill>
                  <a:srgbClr val="000005"/>
                </a:solidFill>
              </a:defRPr>
            </a:pPr>
            <a:r>
              <a:t>20-25% more likely than other customers to buy Tyrrells, Twisties, and Doritos - brands positioned at the premium end of the category.</a:t>
            </a:r>
          </a:p>
          <a:p>
            <a:pPr>
              <a:spcAft>
                <a:spcPts val="1000"/>
              </a:spcAft>
              <a:defRPr sz="1300">
                <a:solidFill>
                  <a:srgbClr val="000005"/>
                </a:solidFill>
              </a:defRPr>
            </a:pPr>
            <a:r>
              <a:t>Average pack size purchased is 178g vs. 175g across the rest of the customer base - a small but consistent lean toward larger packs.</a:t>
            </a:r>
          </a:p>
          <a:p>
            <a:pPr>
              <a:spcAft>
                <a:spcPts val="1000"/>
              </a:spcAft>
              <a:defRPr sz="1300">
                <a:solidFill>
                  <a:srgbClr val="000005"/>
                </a:solidFill>
              </a:defRPr>
            </a:pPr>
            <a:r>
              <a:t>This combination (willingness to pay + large customer base) makes this segment the clearest opportunity for premium-range and larger-pack promotion.</a:t>
            </a:r>
          </a:p>
        </p:txBody>
      </p:sp>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Budget and Mainstream customers each make up roughly a third of every life stage's customer base</a:t>
            </a:r>
          </a:p>
        </p:txBody>
      </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5" name="Picture 4" descr="p3_customer_proportion.png"/>
          <p:cNvPicPr>
            <a:picLocks noChangeAspect="1"/>
          </p:cNvPicPr>
          <p:nvPr/>
        </p:nvPicPr>
        <p:blipFill>
          <a:blip r:embed="rId3"/>
          <a:stretch>
            <a:fillRect/>
          </a:stretch>
        </p:blipFill>
        <p:spPr>
          <a:xfrm>
            <a:off x="1188720" y="1645920"/>
            <a:ext cx="6400800" cy="3368842"/>
          </a:xfrm>
          <a:prstGeom prst="rect">
            <a:avLst/>
          </a:prstGeom>
        </p:spPr>
      </p:pic>
      <p:sp>
        <p:nvSpPr>
          <p:cNvPr id="6" name="TextBox 5"/>
          <p:cNvSpPr txBox="1"/>
          <p:nvPr/>
        </p:nvSpPr>
        <p:spPr>
          <a:xfrm>
            <a:off x="7955279" y="1737360"/>
            <a:ext cx="3291840" cy="4114800"/>
          </a:xfrm>
          <a:prstGeom prst="rect">
            <a:avLst/>
          </a:prstGeom>
          <a:noFill/>
        </p:spPr>
        <p:txBody>
          <a:bodyPr wrap="square">
            <a:spAutoFit/>
          </a:bodyPr>
          <a:lstStyle/>
          <a:p>
            <a:pPr>
              <a:spcAft>
                <a:spcPts val="1000"/>
              </a:spcAft>
              <a:defRPr sz="1300">
                <a:solidFill>
                  <a:srgbClr val="000005"/>
                </a:solidFill>
              </a:defRPr>
            </a:pPr>
            <a:r>
              <a:t>No single life stage is dominated by one affluence tier - Budget, Mainstream, and Premium customers are present in similar proportions almost everywhere.</a:t>
            </a:r>
          </a:p>
          <a:p>
            <a:pPr>
              <a:spcAft>
                <a:spcPts val="1000"/>
              </a:spcAft>
              <a:defRPr sz="1300">
                <a:solidFill>
                  <a:srgbClr val="000005"/>
                </a:solidFill>
              </a:defRPr>
            </a:pPr>
            <a:r>
              <a:t>Young Singles/Couples is the exception - Mainstream customers are a clear majority, reinforcing it as a distinct, high-potential segment rather than an average one.</a:t>
            </a:r>
          </a:p>
        </p:txBody>
      </p:sp>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Control stores were matched on pre-trial sales and customer trends, not assumed by location</a:t>
            </a: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pic>
        <p:nvPicPr>
          <p:cNvPr id="5" name="Picture 4" descr="p4_control_match_example.png"/>
          <p:cNvPicPr>
            <a:picLocks noChangeAspect="1"/>
          </p:cNvPicPr>
          <p:nvPr/>
        </p:nvPicPr>
        <p:blipFill>
          <a:blip r:embed="rId3"/>
          <a:stretch>
            <a:fillRect/>
          </a:stretch>
        </p:blipFill>
        <p:spPr>
          <a:xfrm>
            <a:off x="1188720" y="1645920"/>
            <a:ext cx="6400800" cy="3234088"/>
          </a:xfrm>
          <a:prstGeom prst="rect">
            <a:avLst/>
          </a:prstGeom>
        </p:spPr>
      </p:pic>
      <p:sp>
        <p:nvSpPr>
          <p:cNvPr id="6" name="TextBox 5"/>
          <p:cNvSpPr txBox="1"/>
          <p:nvPr/>
        </p:nvSpPr>
        <p:spPr>
          <a:xfrm>
            <a:off x="7955279" y="1737360"/>
            <a:ext cx="3291840" cy="4114800"/>
          </a:xfrm>
          <a:prstGeom prst="rect">
            <a:avLst/>
          </a:prstGeom>
          <a:noFill/>
        </p:spPr>
        <p:txBody>
          <a:bodyPr wrap="square">
            <a:spAutoFit/>
          </a:bodyPr>
          <a:lstStyle/>
          <a:p>
            <a:pPr>
              <a:spcAft>
                <a:spcPts val="1000"/>
              </a:spcAft>
              <a:defRPr sz="1300">
                <a:solidFill>
                  <a:srgbClr val="000005"/>
                </a:solidFill>
              </a:defRPr>
            </a:pPr>
            <a:r>
              <a:t>Each trial store was scored against every other complete-history store on pre-trial (Jul 2018-Jan 2019) sales and customer-count trends, combining trend shape (correlation) and scale (magnitude distance).</a:t>
            </a:r>
          </a:p>
          <a:p>
            <a:pPr>
              <a:spcAft>
                <a:spcPts val="1000"/>
              </a:spcAft>
              <a:defRPr sz="1300">
                <a:solidFill>
                  <a:srgbClr val="000005"/>
                </a:solidFill>
              </a:defRPr>
            </a:pPr>
            <a:r>
              <a:t>Store 77's best match (store 233, shown left) tracked it closely for 7 straight months before the trial began - a strong basis for comparison.</a:t>
            </a:r>
          </a:p>
          <a:p>
            <a:pPr>
              <a:spcAft>
                <a:spcPts val="1000"/>
              </a:spcAft>
              <a:defRPr sz="1300">
                <a:solidFill>
                  <a:srgbClr val="000005"/>
                </a:solidFill>
              </a:defRPr>
            </a:pPr>
            <a:r>
              <a:t>Match quality varied: stores 77 and 86 found strong matches (0.94-0.97); store 88's best match was weaker (0.80), which affects confidence in its result.</a:t>
            </a:r>
          </a:p>
        </p:txBody>
      </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The trial layout drove a significant, customer-led sales uplift at 2 of 3 stores</a:t>
            </a: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5" name="Picture 4" descr="p5_trial_summary.png"/>
          <p:cNvPicPr>
            <a:picLocks noChangeAspect="1"/>
          </p:cNvPicPr>
          <p:nvPr/>
        </p:nvPicPr>
        <p:blipFill>
          <a:blip r:embed="rId3"/>
          <a:stretch>
            <a:fillRect/>
          </a:stretch>
        </p:blipFill>
        <p:spPr>
          <a:xfrm>
            <a:off x="1188720" y="1645920"/>
            <a:ext cx="6400800" cy="3523345"/>
          </a:xfrm>
          <a:prstGeom prst="rect">
            <a:avLst/>
          </a:prstGeom>
        </p:spPr>
      </p:pic>
      <p:sp>
        <p:nvSpPr>
          <p:cNvPr id="6" name="TextBox 5"/>
          <p:cNvSpPr txBox="1"/>
          <p:nvPr/>
        </p:nvSpPr>
        <p:spPr>
          <a:xfrm>
            <a:off x="7955279" y="1737360"/>
            <a:ext cx="3291840" cy="4114800"/>
          </a:xfrm>
          <a:prstGeom prst="rect">
            <a:avLst/>
          </a:prstGeom>
          <a:noFill/>
        </p:spPr>
        <p:txBody>
          <a:bodyPr wrap="square">
            <a:spAutoFit/>
          </a:bodyPr>
          <a:lstStyle/>
          <a:p>
            <a:pPr>
              <a:spcAft>
                <a:spcPts val="1000"/>
              </a:spcAft>
              <a:defRPr sz="1300">
                <a:solidFill>
                  <a:srgbClr val="000005"/>
                </a:solidFill>
              </a:defRPr>
            </a:pPr>
            <a:r>
              <a:t>Store 77: significant uplift in March (+37%) and April (+62%), driven by +23.5% more customers - not higher spend per visit.</a:t>
            </a:r>
          </a:p>
          <a:p>
            <a:pPr>
              <a:spcAft>
                <a:spcPts val="1000"/>
              </a:spcAft>
              <a:defRPr sz="1300">
                <a:solidFill>
                  <a:srgbClr val="000005"/>
                </a:solidFill>
              </a:defRPr>
            </a:pPr>
            <a:r>
              <a:t>Store 86: significant uplift in March (+32%) only; worth investigating why it didn't sustain through April.</a:t>
            </a:r>
          </a:p>
          <a:p>
            <a:pPr>
              <a:spcAft>
                <a:spcPts val="1000"/>
              </a:spcAft>
              <a:defRPr sz="1300">
                <a:solidFill>
                  <a:srgbClr val="000005"/>
                </a:solidFill>
              </a:defRPr>
            </a:pPr>
            <a:r>
              <a:t>Store 88: no month reached significance - but its control-store match was the weakest of the three, so this should read as inconclusive, not as a failed trial.</a:t>
            </a:r>
          </a:p>
          <a:p>
            <a:pPr>
              <a:spcAft>
                <a:spcPts val="1000"/>
              </a:spcAft>
              <a:defRPr sz="1300">
                <a:solidFill>
                  <a:srgbClr val="000005"/>
                </a:solidFill>
              </a:defRPr>
            </a:pPr>
            <a:r>
              <a:t>Recommendation: proceed toward a wider rollout, prioritising the layout elements common to stores 77 and 86, and re-test store 88 with a stronger control match.</a:t>
            </a:r>
          </a:p>
        </p:txBody>
      </p:sp>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6328</TotalTime>
  <Words>372</Words>
  <Application>Microsoft Office PowerPoint</Application>
  <PresentationFormat>Widescreen</PresentationFormat>
  <Paragraphs>36</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 Light</vt:lpstr>
      <vt:lpstr>Calibri</vt:lpstr>
      <vt:lpstr>Roboto Medium</vt:lpstr>
      <vt:lpstr>Arial</vt:lpstr>
      <vt:lpstr>Roboto</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Sarah D'oliveiro</cp:lastModifiedBy>
  <cp:revision>464</cp:revision>
  <dcterms:created xsi:type="dcterms:W3CDTF">2018-02-07T23:23:24Z</dcterms:created>
  <dcterms:modified xsi:type="dcterms:W3CDTF">2020-06-11T00:39:24Z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